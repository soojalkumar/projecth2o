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71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81" d="100"/>
          <a:sy n="181" d="100"/>
        </p:scale>
        <p:origin x="184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168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20040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 HACKATHON  ·  HACKING THE SUPPLY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37160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225296" y="1371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0" b="1" kern="0" spc="-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Hydra.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California water-supply intelligence 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signals, one clear outlook.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· Hacking the Supply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PARTHAV FULZELE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kern="0" spc="-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Hydra.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California's water supply at a glance — three signals, one clear outlook.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+ FastAPI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· iOS · Android · single-page editorial dashboard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signals → one outlook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507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Strong · Stable · Watch · Concern (rule-based)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Audience-aware planning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5537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Citizen · Farmer · Supply manager · 6 regions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411480"/>
            <a:ext cx="2560320" cy="4764741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0" descr="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57200"/>
            <a:ext cx="2377440" cy="46733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PILLARS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pillars — each addresses something the brief or the expert called out.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26060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1856232"/>
            <a:ext cx="246888" cy="2468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Outlook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4048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Strong / Stable / Watch / Concern — rule-based, deterministic, captures real water-supply mechanics.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46120" y="16916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246120" y="1691640"/>
            <a:ext cx="2606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429000" y="1856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856232"/>
            <a:ext cx="246888" cy="2468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2900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Alerts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429000" y="24048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labeled patterns: drought stress · allocation uncertainty · future weak signal · flood pressure · mixed.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035040" y="16916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035040" y="1691640"/>
            <a:ext cx="26060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217920" y="1856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856232"/>
            <a:ext cx="246888" cy="2468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17920" y="2103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6217920" y="24048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Next-event panel · 0–100 risk scores · 6-month projection with confidence bands · closest historical analog.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32918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457200" y="3291840"/>
            <a:ext cx="2606040" cy="36576"/>
          </a:xfrm>
          <a:prstGeom prst="rect">
            <a:avLst/>
          </a:prstGeom>
          <a:solidFill>
            <a:srgbClr val="0EA5E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40080" y="3456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1760" y="3456432"/>
            <a:ext cx="246888" cy="2468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4008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Card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640080" y="40050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audience tabs · region picker · grounded farmer allocation estimate (e.g. 2017 → 85%, 2021 → 5%).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3246120" y="32918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3246120" y="3291840"/>
            <a:ext cx="260604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3429000" y="3456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456432"/>
            <a:ext cx="246888" cy="2468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42900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Layer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3429000" y="40050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LLM for translation only — drift-guarded, ±5pt validation, deterministic fallback on every text surface.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6035040" y="3291840"/>
            <a:ext cx="26060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6035040" y="3291840"/>
            <a:ext cx="260604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6217920" y="34564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456432"/>
            <a:ext cx="246888" cy="2468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217920" y="3703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Multimedia Output</a:t>
            </a:r>
            <a:endParaRPr lang="en-US" sz="1400" dirty="0"/>
          </a:p>
        </p:txBody>
      </p:sp>
      <p:sp>
        <p:nvSpPr>
          <p:cNvPr id="43" name="Text 35"/>
          <p:cNvSpPr/>
          <p:nvPr/>
        </p:nvSpPr>
        <p:spPr>
          <a:xfrm>
            <a:off x="6217920" y="4005072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view exports as a 1080×1350 editorial PNG share-card — rendered as a layout, not a screenshot.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COMBINED OUTLOOK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outlook — not an average. A rule.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Concerning snowpack with healthy reservoirs is Watch — today is OK, but next year is at risk. Each label maps to a distinct combination of signal bands, deterministically.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" y="3749040"/>
            <a:ext cx="1554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three signals healthy. Buffer in place; plan normally.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242316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51760" y="2624328"/>
            <a:ext cx="182880" cy="1828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33472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2651760" y="3749040"/>
            <a:ext cx="1554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65176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Adequate today across most signals. Routine conditions.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480560" y="242316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3440" y="262432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45152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4663440" y="3749040"/>
            <a:ext cx="1554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 is OK but a leading signal is weak — next cycle is exposed.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92240" y="2423160"/>
            <a:ext cx="1920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75120" y="2624328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56832" y="28803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-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6675120" y="3749040"/>
            <a:ext cx="15544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20" y="3840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Multiple signals weak. Plan for restriction, fallow, or allocation cuts.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LIVE READING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Watch  ·  snowpack 65% concerning · precipitation 105% normal · reservoir 72% healthy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MULTI-SIGNAL ALERTS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patterns no single metric reveals.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9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78992" y="1929384"/>
            <a:ext cx="457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80160" y="18928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stress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21671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Formal precipitation shortage — restrictions likely.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496312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4963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78992" y="2496312"/>
            <a:ext cx="457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24597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uncertainty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734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Farmers' planning trigger — snowpack/reservoir below allocation floor.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78992" y="3063240"/>
            <a:ext cx="4572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280160" y="30266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weak signal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3300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Adequate buffer today, but inputs for next year are weak.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30168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63016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78992" y="3630168"/>
            <a:ext cx="457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80160" y="35935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/ overflow pressure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3867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Reservoirs near capacity with storms incoming.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97096"/>
            <a:ext cx="502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419709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78992" y="4197096"/>
            <a:ext cx="45720" cy="38404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80160" y="4160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Mixed-signal watch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801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Fallback for ambiguous setups — reads the data, withholds the verdict.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FORWARD-LOOKING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Forward-looking outlook — what's coming next.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NEXT-EVENT PANEL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Pulls the next significant precipitation event from the Sierra Nevada (Donner Summit) weather window.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27832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334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6207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Drought / flood scored 0–100. Combines current state, recent trend, and the upcoming weather window.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41064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3467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PROJECTION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75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Statistical model trained on the full 120-month dataset. Confidence bands widen with horizon.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654296"/>
            <a:ext cx="4572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05993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ANALOG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28853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Closest analog year is surfaced — with what played out in the 6 months that followed.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32120" y="1783080"/>
            <a:ext cx="3154680" cy="301752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6440" y="2057400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NOTICE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0644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-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snow incoming.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80644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Wednesday  ·  ~6" snow expected at the Sierra crest.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06440" y="3200400"/>
            <a:ext cx="260604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DROUGHT 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06440" y="3566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537960" y="3776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100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3383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 RISK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223760" y="35661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7772400" y="37764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/ 100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06440" y="4297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analog · 2017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0644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Wet recovery year · 85% State Water Project allocation.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PLANNING IMPLICATIONS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this means" — for the person reading.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audience tabs · region picker (six California regions, junior-priority districts adjusted to reflect contract priority).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606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04872"/>
            <a:ext cx="219456" cy="2194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926080"/>
            <a:ext cx="36576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8096" y="28803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 where you can.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008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Routine restrictions likely later this year. Replace high-volume fixtures, shorten outdoor watering windows.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448056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4008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Statewide guidance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246120" y="228600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246120" y="2286000"/>
            <a:ext cx="2606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404872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70332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29000" y="2926080"/>
            <a:ext cx="36576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3557016" y="28803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~72% allocation · plan reduced acreage.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342900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Allocation will likely come in below full. Reduce annual crop acreage; prioritize water for permanent crops.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429000" y="448056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342900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blended from 2017 actual (85%) + current signals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35040" y="228600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4"/>
          <p:cNvSpPr/>
          <p:nvPr/>
        </p:nvSpPr>
        <p:spPr>
          <a:xfrm>
            <a:off x="6035040" y="2286000"/>
            <a:ext cx="260604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404872"/>
            <a:ext cx="219456" cy="21945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49224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17920" y="2926080"/>
            <a:ext cx="36576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/>
          <p:nvPr/>
        </p:nvSpPr>
        <p:spPr>
          <a:xfrm>
            <a:off x="6345936" y="28803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Adequate today · weak future signal.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6217920" y="35661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Reservoirs are buying time. Prepare allocation-cut messaging and lock in inter-agency exchanges before spring.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6217920" y="4480560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6217920" y="45720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Sacramento Valley region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separation: every number is deterministic.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only speaks; it never decides. Even when it speaks, output is validated against the deterministic state.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8046720" cy="68580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86584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23134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 ·  WEB / iOS / ANDROID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88720" y="257860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Riverpod · dio · fl_chart · Inter · Dashboard, Coming up, Trends, Alerts, Report, Share-card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40480" y="28986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⇅  JSON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3154680"/>
            <a:ext cx="8046720" cy="1417320"/>
          </a:xfrm>
          <a:prstGeom prst="rect">
            <a:avLst/>
          </a:prstGeom>
          <a:solidFill>
            <a:srgbClr val="0F2742"/>
          </a:solidFill>
          <a:ln w="12700">
            <a:solidFill>
              <a:srgbClr val="0F27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346704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3273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PYTHON 3.14  ·  DETERMINISTIC SERVICES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88720" y="35387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AI in any of these · band classification, scoring, projection, planning — all auditable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77240" y="38679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 ·  alert  ·  historical  ·  projection  ·  planning  ·  predictive  ·  weather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22960" y="4187952"/>
            <a:ext cx="749808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22960" y="42611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TRANSLATION  ·  Llama 3.3 70B (Groq)  ·  drift-guarded  ·  ±5pt validation  ·  offline fallback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4754880"/>
            <a:ext cx="8046720" cy="5029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6460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48006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·  120 MONTHS (2016–2025)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88720" y="501091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Snowpack % · precipitation % · reservoir % — the brief's full decade of monthly readings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THE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201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-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time-series, not dressed-up ML.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Method: seasonal naïve + linear yearly trend. The card label says PATTERN MATCH so judges know we're not pretending.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1579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Per-month historical mean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43230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 California's strong seasonality — snowpack peaks Apr 1, dries by fall.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on yearly averages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0906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 multi-year drift through drought / recovery cycles.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112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474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forward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value(target) = monthly_avg(target) + slope × years_ahead.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696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4074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±1σ of per-month historical spread, attenuated by horizon.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166360" y="2194560"/>
            <a:ext cx="3520440" cy="24231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49240" y="2286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DATASET, VISUALIZED</a:t>
            </a:r>
            <a:endParaRPr lang="en-US" sz="900" dirty="0"/>
          </a:p>
        </p:txBody>
      </p:sp>
      <p:pic>
        <p:nvPicPr>
          <p:cNvPr id="23" name="Image 0" descr="/home/claude/hydra-deck/trends_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2542032"/>
            <a:ext cx="3108960" cy="227263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47548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It's not deep learning — the dataset doesn't support it. It is honest, defensible methodology over the data we have.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0" y="201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41248" y="1188720"/>
            <a:ext cx="164592" cy="16459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25296" y="1188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600" b="1" kern="0" spc="-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snowpack alone</a:t>
            </a:r>
            <a:endParaRPr lang="en-US" sz="5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600" b="1" kern="0" spc="-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enough,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11480" y="3017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i="1" kern="0" spc="-200" dirty="0">
                <a:solidFill>
                  <a:srgbClr val="FFFFFF">
                    <a:alpha val="8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here's what is.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63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  ·  THREE SIGNALS, ONE CLEAR OUTLOOK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PARTHAV FULZELE, SAM FULZELE, </a:t>
            </a:r>
            <a:br>
              <a:rPr lang="en-US" sz="1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SOOJA KUMAR  SATCHU DESHMUKH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Submitted to the H2O Hackathon · Hacking the Supply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>
                    <a:alpha val="7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1786</TotalTime>
  <Words>1057</Words>
  <Application>Microsoft Macintosh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Hydra — California water-supply intelligence</dc:title>
  <dc:subject>PptxGenJS Presentation</dc:subject>
  <dc:creator>Parthav Fulzele</dc:creator>
  <cp:lastModifiedBy>Suksham Fulzele</cp:lastModifiedBy>
  <cp:revision>3</cp:revision>
  <dcterms:created xsi:type="dcterms:W3CDTF">2026-05-02T21:46:33Z</dcterms:created>
  <dcterms:modified xsi:type="dcterms:W3CDTF">2026-05-04T03:35:22Z</dcterms:modified>
</cp:coreProperties>
</file>